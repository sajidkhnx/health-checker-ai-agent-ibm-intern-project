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2"/>
  </p:notesMasterIdLst>
  <p:sldIdLst>
    <p:sldId id="256" r:id="rId5"/>
    <p:sldId id="2146847054" r:id="rId6"/>
    <p:sldId id="262" r:id="rId7"/>
    <p:sldId id="263" r:id="rId8"/>
    <p:sldId id="2146847058" r:id="rId9"/>
    <p:sldId id="265" r:id="rId10"/>
    <p:sldId id="2146847057" r:id="rId11"/>
    <p:sldId id="2146847066" r:id="rId12"/>
    <p:sldId id="2146847060" r:id="rId13"/>
    <p:sldId id="2146847067" r:id="rId14"/>
    <p:sldId id="2146847068" r:id="rId15"/>
    <p:sldId id="2146847062" r:id="rId16"/>
    <p:sldId id="2146847061" r:id="rId17"/>
    <p:sldId id="2146847055" r:id="rId18"/>
    <p:sldId id="2146847059" r:id="rId19"/>
    <p:sldId id="2146847069" r:id="rId20"/>
    <p:sldId id="25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7A7A7"/>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2522C5-0B34-8239-4EE4-793E8B6C05A9}" v="255" dt="2025-07-01T09:33:34.532"/>
    <p1510:client id="{D7F1B23C-5E68-AC61-D210-0912C84FE76E}" v="44" dt="2025-07-01T09:37:32.263"/>
    <p1510:client id="{D894958A-9A7A-283B-0ADF-D9632CD88E74}" v="14" dt="2025-07-01T10:57:40.2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t>05-12-2025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t>‹#›</a:t>
            </a:fld>
            <a:endParaRPr lang="en-IN"/>
          </a:p>
        </p:txBody>
      </p:sp>
    </p:spTree>
    <p:extLst>
      <p:ext uri="{BB962C8B-B14F-4D97-AF65-F5344CB8AC3E}">
        <p14:creationId xmlns:p14="http://schemas.microsoft.com/office/powerpoint/2010/main" val="538008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12/5/2025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12/5/2025</a:t>
            </a:fld>
            <a:endParaRPr lang="en-US"/>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12/5/2025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FD690-9426-415D-8B65-26881E07B2D4}" type="datetime1">
              <a:rPr lang="en-US" smtClean="0"/>
              <a:t>12/5/2025</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4C4989A-474C-40DE-95B9-011C28B71673}" type="datetime1">
              <a:rPr lang="en-US" smtClean="0"/>
              <a:t>12/5/2025</a:t>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5DB4ED54-5B5E-4A04-93D3-5772E3CE3818}" type="datetime1">
              <a:rPr lang="en-US" smtClean="0"/>
              <a:t>12/5/2025</a:t>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12/5/2025</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12/5/2025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12/5/2025</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CED4963-E985-44C4-B8C4-FDD613B7C2F8}" type="datetime1">
              <a:rPr lang="en-US" smtClean="0"/>
              <a:t>12/5/2025</a:t>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12/5/2025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12/5/2025</a:t>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a:extLst>
              <a:ext uri="{FF2B5EF4-FFF2-40B4-BE49-F238E27FC236}">
                <a16:creationId xmlns:a16="http://schemas.microsoft.com/office/drawing/2014/main" id="{14A64E4D-8DED-7830-2955-1BE78C5B0655}"/>
              </a:ext>
            </a:extLst>
          </p:cNvPr>
          <p:cNvPicPr>
            <a:picLocks noChangeAspect="1"/>
          </p:cNvPicPr>
          <p:nvPr userDrawn="1"/>
        </p:nvPicPr>
        <p:blipFill>
          <a:blip r:embed="rId13"/>
          <a:stretch>
            <a:fillRect/>
          </a:stretch>
        </p:blipFill>
        <p:spPr>
          <a:xfrm>
            <a:off x="10485003" y="6437910"/>
            <a:ext cx="1125805" cy="365126"/>
          </a:xfrm>
          <a:prstGeom prst="rect">
            <a:avLst/>
          </a:prstGeom>
        </p:spPr>
      </p:pic>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sajidkhnx/Health-Checker-AI-Agent-IBM-Intern-Project"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11E26-4C38-41A6-9857-11032CEECD80}"/>
              </a:ext>
            </a:extLst>
          </p:cNvPr>
          <p:cNvSpPr>
            <a:spLocks noGrp="1"/>
          </p:cNvSpPr>
          <p:nvPr>
            <p:ph type="ctrTitle"/>
          </p:nvPr>
        </p:nvSpPr>
        <p:spPr>
          <a:xfrm>
            <a:off x="1359108" y="1821635"/>
            <a:ext cx="9144000" cy="977778"/>
          </a:xfrm>
        </p:spPr>
        <p:txBody>
          <a:bodyPr/>
          <a:lstStyle/>
          <a:p>
            <a:pPr algn="ctr"/>
            <a:r>
              <a:rPr lang="en-US" b="1" dirty="0">
                <a:solidFill>
                  <a:schemeClr val="accent1"/>
                </a:solidFill>
                <a:latin typeface="Arial"/>
                <a:cs typeface="Arial"/>
              </a:rPr>
              <a:t>AI Health Symptom Checker </a:t>
            </a:r>
            <a:endParaRPr lang="en-US" b="1" dirty="0">
              <a:solidFill>
                <a:schemeClr val="accent1"/>
              </a:solidFill>
              <a:latin typeface="Arial" panose="020B0604020202020204" pitchFamily="34" charset="0"/>
              <a:cs typeface="Arial" panose="020B0604020202020204" pitchFamily="34" charset="0"/>
            </a:endParaRP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dirty="0">
                <a:solidFill>
                  <a:schemeClr val="accent1">
                    <a:lumMod val="75000"/>
                  </a:schemeClr>
                </a:solidFill>
                <a:latin typeface="Arial"/>
                <a:cs typeface="Arial"/>
              </a:rPr>
              <a:t>IBM INTERNSHIP PROJECT</a:t>
            </a:r>
          </a:p>
        </p:txBody>
      </p:sp>
      <p:sp>
        <p:nvSpPr>
          <p:cNvPr id="4" name="TextBox 3"/>
          <p:cNvSpPr txBox="1"/>
          <p:nvPr/>
        </p:nvSpPr>
        <p:spPr>
          <a:xfrm>
            <a:off x="475489" y="5008071"/>
            <a:ext cx="11119104" cy="1323439"/>
          </a:xfrm>
          <a:prstGeom prst="rect">
            <a:avLst/>
          </a:prstGeom>
          <a:noFill/>
        </p:spPr>
        <p:txBody>
          <a:bodyPr wrap="square" lIns="91440" tIns="45720" rIns="91440" bIns="45720" rtlCol="0" anchor="t">
            <a:spAutoFit/>
          </a:bodyPr>
          <a:lstStyle/>
          <a:p>
            <a:r>
              <a:rPr lang="en-US" sz="2000" b="1" dirty="0">
                <a:solidFill>
                  <a:schemeClr val="accent1">
                    <a:lumMod val="75000"/>
                  </a:schemeClr>
                </a:solidFill>
                <a:latin typeface="Arial" pitchFamily="34" charset="0"/>
                <a:cs typeface="Arial" pitchFamily="34" charset="0"/>
              </a:rPr>
              <a:t>Presented By: Sajid Khan	</a:t>
            </a:r>
          </a:p>
          <a:p>
            <a:r>
              <a:rPr lang="en-US" sz="2000" b="1" dirty="0">
                <a:solidFill>
                  <a:schemeClr val="accent1">
                    <a:lumMod val="75000"/>
                  </a:schemeClr>
                </a:solidFill>
                <a:latin typeface="Arial" pitchFamily="34" charset="0"/>
                <a:cs typeface="Arial" pitchFamily="34" charset="0"/>
              </a:rPr>
              <a:t>Student name : Mohd Sajid Khan	</a:t>
            </a:r>
          </a:p>
          <a:p>
            <a:r>
              <a:rPr lang="en-US" sz="2000" b="1" dirty="0">
                <a:solidFill>
                  <a:schemeClr val="accent1">
                    <a:lumMod val="75000"/>
                  </a:schemeClr>
                </a:solidFill>
                <a:latin typeface="Arial"/>
                <a:cs typeface="Arial"/>
              </a:rPr>
              <a:t>College Name &amp; Department : Ashoka Institute of Technology (Computer Science &amp; Engineering)</a:t>
            </a:r>
          </a:p>
        </p:txBody>
      </p:sp>
    </p:spTree>
    <p:extLst>
      <p:ext uri="{BB962C8B-B14F-4D97-AF65-F5344CB8AC3E}">
        <p14:creationId xmlns:p14="http://schemas.microsoft.com/office/powerpoint/2010/main" val="9533255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FEB4C-F209-4AE7-AA2B-B3C26CE2C51D}"/>
              </a:ext>
            </a:extLst>
          </p:cNvPr>
          <p:cNvSpPr>
            <a:spLocks noGrp="1"/>
          </p:cNvSpPr>
          <p:nvPr>
            <p:ph type="title"/>
          </p:nvPr>
        </p:nvSpPr>
        <p:spPr>
          <a:xfrm>
            <a:off x="849573" y="558468"/>
            <a:ext cx="10515600" cy="1325563"/>
          </a:xfrm>
        </p:spPr>
        <p:txBody>
          <a:bodyPr/>
          <a:lstStyle/>
          <a:p>
            <a:r>
              <a:rPr lang="en-US" b="1">
                <a:solidFill>
                  <a:srgbClr val="002060"/>
                </a:solidFill>
                <a:latin typeface="Arial" panose="020B0604020202020204" pitchFamily="34" charset="0"/>
                <a:cs typeface="Arial" panose="020B0604020202020204" pitchFamily="34" charset="0"/>
              </a:rPr>
              <a:t>OUTLINE</a:t>
            </a:r>
          </a:p>
        </p:txBody>
      </p:sp>
      <p:sp>
        <p:nvSpPr>
          <p:cNvPr id="3" name="Content Placeholder 2">
            <a:extLst>
              <a:ext uri="{FF2B5EF4-FFF2-40B4-BE49-F238E27FC236}">
                <a16:creationId xmlns:a16="http://schemas.microsoft.com/office/drawing/2014/main" id="{B2678641-EEA3-4EC4-BF39-4075B0C120E8}"/>
              </a:ext>
            </a:extLst>
          </p:cNvPr>
          <p:cNvSpPr>
            <a:spLocks noGrp="1"/>
          </p:cNvSpPr>
          <p:nvPr>
            <p:ph idx="1"/>
          </p:nvPr>
        </p:nvSpPr>
        <p:spPr>
          <a:xfrm>
            <a:off x="838200" y="1618938"/>
            <a:ext cx="11019020" cy="5239062"/>
          </a:xfrm>
        </p:spPr>
        <p:txBody>
          <a:bodyPr vert="horz" lIns="91440" tIns="45720" rIns="91440" bIns="45720" rtlCol="0" anchor="t">
            <a:noAutofit/>
          </a:bodyPr>
          <a:lstStyle/>
          <a:p>
            <a:pPr marL="0" indent="0">
              <a:buNone/>
            </a:pPr>
            <a:r>
              <a:rPr lang="en-US" sz="2000" b="1" dirty="0">
                <a:latin typeface="Arial"/>
                <a:ea typeface="+mn-lt"/>
                <a:cs typeface="Arial"/>
              </a:rPr>
              <a:t>  </a:t>
            </a:r>
            <a:endParaRPr lang="en-US" dirty="0">
              <a:latin typeface="Arial"/>
              <a:cs typeface="Arial"/>
            </a:endParaRPr>
          </a:p>
          <a:p>
            <a:pPr marL="305435" indent="-305435"/>
            <a:r>
              <a:rPr lang="en-US" sz="2000" b="1" dirty="0">
                <a:latin typeface="Arial"/>
                <a:ea typeface="+mn-lt"/>
                <a:cs typeface="Arial"/>
              </a:rPr>
              <a:t>Problem Statement </a:t>
            </a:r>
          </a:p>
          <a:p>
            <a:pPr marL="305435" indent="-305435"/>
            <a:r>
              <a:rPr lang="en-US" sz="2000" b="1" dirty="0">
                <a:latin typeface="Arial"/>
                <a:ea typeface="+mn-lt"/>
                <a:cs typeface="Arial"/>
              </a:rPr>
              <a:t>Technology used</a:t>
            </a:r>
            <a:endParaRPr lang="en-US" dirty="0">
              <a:latin typeface="Arial"/>
              <a:cs typeface="Arial"/>
            </a:endParaRPr>
          </a:p>
          <a:p>
            <a:pPr marL="305435" indent="-305435"/>
            <a:r>
              <a:rPr lang="en-US" sz="2000" b="1" dirty="0">
                <a:latin typeface="Arial"/>
                <a:ea typeface="+mn-lt"/>
                <a:cs typeface="+mn-lt"/>
              </a:rPr>
              <a:t>Wow factor </a:t>
            </a:r>
            <a:endParaRPr lang="en-US" sz="2000" dirty="0">
              <a:latin typeface="Arial"/>
              <a:ea typeface="+mn-lt"/>
              <a:cs typeface="+mn-lt"/>
            </a:endParaRPr>
          </a:p>
          <a:p>
            <a:pPr marL="305435" indent="-305435"/>
            <a:r>
              <a:rPr lang="en-US" sz="2000" b="1" dirty="0">
                <a:latin typeface="Arial"/>
                <a:ea typeface="+mn-lt"/>
                <a:cs typeface="+mn-lt"/>
              </a:rPr>
              <a:t>End users</a:t>
            </a:r>
          </a:p>
          <a:p>
            <a:pPr marL="305435" indent="-305435"/>
            <a:r>
              <a:rPr lang="en-US" sz="2000" b="1" dirty="0">
                <a:latin typeface="Arial"/>
                <a:ea typeface="+mn-lt"/>
                <a:cs typeface="+mn-lt"/>
              </a:rPr>
              <a:t>Result</a:t>
            </a:r>
          </a:p>
          <a:p>
            <a:pPr marL="305435" indent="-305435"/>
            <a:r>
              <a:rPr lang="en-US" sz="2000" b="1" dirty="0">
                <a:latin typeface="Arial"/>
                <a:ea typeface="+mn-lt"/>
                <a:cs typeface="+mn-lt"/>
              </a:rPr>
              <a:t>Conclusion</a:t>
            </a:r>
          </a:p>
          <a:p>
            <a:pPr marL="305435" indent="-305435"/>
            <a:r>
              <a:rPr lang="en-US" sz="2000" b="1" dirty="0">
                <a:latin typeface="Arial"/>
                <a:ea typeface="+mn-lt"/>
                <a:cs typeface="+mn-lt"/>
              </a:rPr>
              <a:t>Git-hub Link</a:t>
            </a:r>
          </a:p>
          <a:p>
            <a:pPr marL="305435" indent="-305435"/>
            <a:r>
              <a:rPr lang="en-US" sz="2000" b="1" dirty="0">
                <a:latin typeface="Arial"/>
                <a:ea typeface="+mn-lt"/>
                <a:cs typeface="+mn-lt"/>
              </a:rPr>
              <a:t>Future scope</a:t>
            </a:r>
          </a:p>
          <a:p>
            <a:pPr marL="305435" indent="-305435"/>
            <a:r>
              <a:rPr lang="en-US" sz="2000" b="1" dirty="0">
                <a:latin typeface="Arial"/>
                <a:ea typeface="+mn-lt"/>
                <a:cs typeface="+mn-lt"/>
              </a:rPr>
              <a:t>IBM Certifications</a:t>
            </a:r>
          </a:p>
          <a:p>
            <a:pPr marL="305435" indent="-305435"/>
            <a:endParaRPr lang="en-US" sz="2000" b="1" dirty="0">
              <a:latin typeface="Arial"/>
              <a:ea typeface="+mn-lt"/>
              <a:cs typeface="+mn-lt"/>
            </a:endParaRPr>
          </a:p>
          <a:p>
            <a:pPr marL="305435" indent="-305435"/>
            <a:endParaRPr lang="en-US" dirty="0">
              <a:latin typeface="Arial"/>
              <a:cs typeface="Arial"/>
            </a:endParaRPr>
          </a:p>
        </p:txBody>
      </p:sp>
    </p:spTree>
    <p:extLst>
      <p:ext uri="{BB962C8B-B14F-4D97-AF65-F5344CB8AC3E}">
        <p14:creationId xmlns:p14="http://schemas.microsoft.com/office/powerpoint/2010/main" val="2900153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Problem Statement</a:t>
            </a:r>
            <a:endParaRPr lang="en-US" sz="4400"/>
          </a:p>
        </p:txBody>
      </p:sp>
      <p:sp>
        <p:nvSpPr>
          <p:cNvPr id="2" name="Content Placeholder 1">
            <a:extLst>
              <a:ext uri="{FF2B5EF4-FFF2-40B4-BE49-F238E27FC236}">
                <a16:creationId xmlns:a16="http://schemas.microsoft.com/office/drawing/2014/main" id="{8FEE4A9C-3F57-7DA7-91FD-715C3FB47F93}"/>
              </a:ext>
            </a:extLst>
          </p:cNvPr>
          <p:cNvSpPr>
            <a:spLocks noGrp="1"/>
          </p:cNvSpPr>
          <p:nvPr>
            <p:ph idx="1"/>
          </p:nvPr>
        </p:nvSpPr>
        <p:spPr>
          <a:xfrm>
            <a:off x="452403" y="1237632"/>
            <a:ext cx="11029615" cy="4673324"/>
          </a:xfrm>
        </p:spPr>
        <p:txBody>
          <a:bodyPr>
            <a:normAutofit fontScale="92500" lnSpcReduction="10000"/>
          </a:bodyPr>
          <a:lstStyle/>
          <a:p>
            <a:pPr marL="0" indent="0">
              <a:buNone/>
            </a:pPr>
            <a:r>
              <a:rPr lang="en-US" sz="2400" dirty="0"/>
              <a:t>Agentic AI Health Symptom Checker– An Agentic AI Health Symptom Checker helps users understand their health conditions by analyzing symptoms and providing probable causes, preventive advice, and care recommendations. It retrieves verified medical data, symptom databases, and guidelines from trusted sources like WHO, government health portals, and medical journals. </a:t>
            </a:r>
          </a:p>
          <a:p>
            <a:pPr marL="0" indent="0">
              <a:buNone/>
            </a:pPr>
            <a:r>
              <a:rPr lang="en-US" sz="2600" dirty="0">
                <a:latin typeface="Calibri"/>
                <a:ea typeface="+mn-lt"/>
                <a:cs typeface="+mn-lt"/>
              </a:rPr>
              <a:t>Proposed Solution:</a:t>
            </a:r>
            <a:br>
              <a:rPr lang="en-US" sz="2600" dirty="0">
                <a:latin typeface="Calibri"/>
                <a:ea typeface="+mn-lt"/>
                <a:cs typeface="+mn-lt"/>
              </a:rPr>
            </a:br>
            <a:r>
              <a:rPr lang="en-US" sz="2600" dirty="0">
                <a:latin typeface="Calibri"/>
                <a:ea typeface="+mn-lt"/>
                <a:cs typeface="+mn-lt"/>
              </a:rPr>
              <a:t> An AI Research Agent that uses Natural Language Processing (NLP), Retrieval-Augmented Generation (RAG), </a:t>
            </a:r>
            <a:r>
              <a:rPr lang="en-US" sz="2600" dirty="0"/>
              <a:t>Users can input symptoms in natural language such as “I have a sore throat and fever,” and the agent provides possible conditions, urgency level, home remedies, and when to consult a doctor. It supports multi-language interaction and avoids self-diagnosis risks by offering educational and referral-based suggestions. </a:t>
            </a:r>
            <a:endParaRPr lang="en-US" sz="2600" dirty="0">
              <a:solidFill>
                <a:srgbClr val="404040"/>
              </a:solidFill>
              <a:latin typeface="Calibri"/>
              <a:ea typeface="Calibri"/>
              <a:cs typeface="Calibri"/>
            </a:endParaRPr>
          </a:p>
        </p:txBody>
      </p:sp>
    </p:spTree>
    <p:extLst>
      <p:ext uri="{BB962C8B-B14F-4D97-AF65-F5344CB8AC3E}">
        <p14:creationId xmlns:p14="http://schemas.microsoft.com/office/powerpoint/2010/main" val="11864211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Technology  used</a:t>
            </a:r>
            <a:endParaRPr lang="en-US" sz="4400" dirty="0"/>
          </a:p>
        </p:txBody>
      </p:sp>
      <p:sp>
        <p:nvSpPr>
          <p:cNvPr id="2" name="Content Placeholder 1">
            <a:extLst>
              <a:ext uri="{FF2B5EF4-FFF2-40B4-BE49-F238E27FC236}">
                <a16:creationId xmlns:a16="http://schemas.microsoft.com/office/drawing/2014/main" id="{E041FD9D-DF07-9C37-1E61-1D920E0EF1D4}"/>
              </a:ext>
            </a:extLst>
          </p:cNvPr>
          <p:cNvSpPr>
            <a:spLocks noGrp="1"/>
          </p:cNvSpPr>
          <p:nvPr>
            <p:ph idx="1"/>
          </p:nvPr>
        </p:nvSpPr>
        <p:spPr>
          <a:xfrm>
            <a:off x="441671" y="1087378"/>
            <a:ext cx="11613485" cy="5563973"/>
          </a:xfrm>
        </p:spPr>
        <p:txBody>
          <a:bodyPr vert="horz" lIns="91440" tIns="45720" rIns="91440" bIns="45720" rtlCol="0" anchor="ctr">
            <a:noAutofit/>
          </a:bodyPr>
          <a:lstStyle/>
          <a:p>
            <a:pPr marL="0" indent="0">
              <a:buNone/>
            </a:pPr>
            <a:r>
              <a:rPr lang="en-US" sz="2800" dirty="0">
                <a:solidFill>
                  <a:srgbClr val="000000"/>
                </a:solidFill>
                <a:latin typeface="Calibri"/>
                <a:ea typeface="Calibri"/>
                <a:cs typeface="Calibri"/>
              </a:rPr>
              <a:t>IBM cloud lite services</a:t>
            </a:r>
          </a:p>
          <a:p>
            <a:pPr marL="0" indent="0">
              <a:buNone/>
            </a:pPr>
            <a:r>
              <a:rPr lang="en-US" sz="2800" dirty="0">
                <a:solidFill>
                  <a:srgbClr val="000000"/>
                </a:solidFill>
                <a:latin typeface="Calibri"/>
                <a:ea typeface="Calibri"/>
                <a:cs typeface="Calibri"/>
              </a:rPr>
              <a:t>Natural Language Processing (NLP)</a:t>
            </a:r>
          </a:p>
          <a:p>
            <a:pPr marL="0" indent="0">
              <a:buNone/>
            </a:pPr>
            <a:r>
              <a:rPr lang="en-US" sz="2800" dirty="0">
                <a:solidFill>
                  <a:srgbClr val="000000"/>
                </a:solidFill>
                <a:latin typeface="Calibri"/>
                <a:ea typeface="Calibri"/>
                <a:cs typeface="Calibri"/>
              </a:rPr>
              <a:t>Retrieval Augmented Generation (RAG)</a:t>
            </a:r>
          </a:p>
          <a:p>
            <a:pPr marL="0" indent="0">
              <a:buNone/>
            </a:pPr>
            <a:r>
              <a:rPr lang="en-US" sz="2800" dirty="0">
                <a:solidFill>
                  <a:srgbClr val="000000"/>
                </a:solidFill>
                <a:latin typeface="Calibri"/>
                <a:ea typeface="Calibri"/>
                <a:cs typeface="Calibri"/>
              </a:rPr>
              <a:t>IBM Granite model</a:t>
            </a:r>
          </a:p>
        </p:txBody>
      </p:sp>
    </p:spTree>
    <p:extLst>
      <p:ext uri="{BB962C8B-B14F-4D97-AF65-F5344CB8AC3E}">
        <p14:creationId xmlns:p14="http://schemas.microsoft.com/office/powerpoint/2010/main" val="3210358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80B2B-5B8A-2798-A127-FAFC2D527010}"/>
              </a:ext>
            </a:extLst>
          </p:cNvPr>
          <p:cNvSpPr>
            <a:spLocks noGrp="1"/>
          </p:cNvSpPr>
          <p:nvPr>
            <p:ph type="title"/>
          </p:nvPr>
        </p:nvSpPr>
        <p:spPr/>
        <p:txBody>
          <a:bodyPr/>
          <a:lstStyle/>
          <a:p>
            <a:r>
              <a:rPr lang="en-IN" dirty="0">
                <a:solidFill>
                  <a:schemeClr val="accent1"/>
                </a:solidFill>
              </a:rPr>
              <a:t>IBM cloud services used</a:t>
            </a:r>
          </a:p>
        </p:txBody>
      </p:sp>
      <p:sp>
        <p:nvSpPr>
          <p:cNvPr id="3" name="Content Placeholder 2">
            <a:extLst>
              <a:ext uri="{FF2B5EF4-FFF2-40B4-BE49-F238E27FC236}">
                <a16:creationId xmlns:a16="http://schemas.microsoft.com/office/drawing/2014/main" id="{40B9234A-56AB-47BB-E0BD-725AF6684B23}"/>
              </a:ext>
            </a:extLst>
          </p:cNvPr>
          <p:cNvSpPr>
            <a:spLocks noGrp="1"/>
          </p:cNvSpPr>
          <p:nvPr>
            <p:ph idx="1"/>
          </p:nvPr>
        </p:nvSpPr>
        <p:spPr/>
        <p:txBody>
          <a:bodyPr/>
          <a:lstStyle/>
          <a:p>
            <a:pPr marL="305435" indent="-305435"/>
            <a:r>
              <a:rPr lang="en-IN" dirty="0"/>
              <a:t>IBM Cloud Watsonx AI Studio</a:t>
            </a:r>
          </a:p>
          <a:p>
            <a:pPr marL="305435" indent="-305435"/>
            <a:r>
              <a:rPr lang="en-IN" dirty="0"/>
              <a:t>IBM Cloud </a:t>
            </a:r>
            <a:r>
              <a:rPr lang="en-IN" dirty="0" err="1"/>
              <a:t>Watsonx</a:t>
            </a:r>
            <a:r>
              <a:rPr lang="en-IN" dirty="0"/>
              <a:t> AI runtime</a:t>
            </a:r>
          </a:p>
          <a:p>
            <a:pPr marL="305435" indent="-305435"/>
            <a:r>
              <a:rPr lang="en-IN" dirty="0"/>
              <a:t>IBM Cloud Agent Lab</a:t>
            </a:r>
          </a:p>
          <a:p>
            <a:pPr marL="305435" indent="-305435"/>
            <a:r>
              <a:rPr lang="en-IN" dirty="0"/>
              <a:t>IBM Granite foundation model</a:t>
            </a:r>
          </a:p>
        </p:txBody>
      </p:sp>
    </p:spTree>
    <p:extLst>
      <p:ext uri="{BB962C8B-B14F-4D97-AF65-F5344CB8AC3E}">
        <p14:creationId xmlns:p14="http://schemas.microsoft.com/office/powerpoint/2010/main" val="1366800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a:xfrm>
            <a:off x="581191" y="771730"/>
            <a:ext cx="11029616" cy="530296"/>
          </a:xfrm>
        </p:spPr>
        <p:txBody>
          <a:bodyPr>
            <a:noAutofit/>
          </a:bodyPr>
          <a:lstStyle/>
          <a:p>
            <a:r>
              <a:rPr lang="en-US" sz="3200" b="1" dirty="0">
                <a:solidFill>
                  <a:schemeClr val="accent1"/>
                </a:solidFill>
                <a:latin typeface="Arial"/>
                <a:ea typeface="+mj-lt"/>
                <a:cs typeface="Arial"/>
              </a:rPr>
              <a:t>Wow factors</a:t>
            </a:r>
            <a:endParaRPr lang="en-US" sz="3200" dirty="0">
              <a:solidFill>
                <a:schemeClr val="accent1"/>
              </a:solidFill>
              <a:latin typeface="Calibri Light"/>
              <a:cs typeface="Calibri Light"/>
            </a:endParaRPr>
          </a:p>
        </p:txBody>
      </p:sp>
      <p:sp>
        <p:nvSpPr>
          <p:cNvPr id="2" name="Content Placeholder 1">
            <a:extLst>
              <a:ext uri="{FF2B5EF4-FFF2-40B4-BE49-F238E27FC236}">
                <a16:creationId xmlns:a16="http://schemas.microsoft.com/office/drawing/2014/main" id="{C4FFAF3C-BA60-9181-132C-C36C403AAEA7}"/>
              </a:ext>
            </a:extLst>
          </p:cNvPr>
          <p:cNvSpPr>
            <a:spLocks noGrp="1"/>
          </p:cNvSpPr>
          <p:nvPr>
            <p:ph idx="1"/>
          </p:nvPr>
        </p:nvSpPr>
        <p:spPr>
          <a:xfrm>
            <a:off x="581191" y="1302026"/>
            <a:ext cx="11029615" cy="5007334"/>
          </a:xfrm>
        </p:spPr>
        <p:txBody>
          <a:bodyPr>
            <a:normAutofit/>
          </a:bodyPr>
          <a:lstStyle/>
          <a:p>
            <a:r>
              <a:rPr lang="en-US" b="1" dirty="0">
                <a:latin typeface="Calibri" panose="020F0502020204030204" pitchFamily="34" charset="0"/>
                <a:ea typeface="Calibri" panose="020F0502020204030204" pitchFamily="34" charset="0"/>
                <a:cs typeface="Calibri" panose="020F0502020204030204" pitchFamily="34" charset="0"/>
              </a:rPr>
              <a:t>Natural Language Interaction</a:t>
            </a:r>
            <a:br>
              <a:rPr lang="en-US" dirty="0">
                <a:latin typeface="Calibri" panose="020F0502020204030204" pitchFamily="34" charset="0"/>
                <a:ea typeface="Calibri" panose="020F0502020204030204" pitchFamily="34" charset="0"/>
                <a:cs typeface="Calibri" panose="020F0502020204030204" pitchFamily="34" charset="0"/>
              </a:rPr>
            </a:br>
            <a:r>
              <a:rPr lang="en-US" dirty="0">
                <a:latin typeface="Calibri" panose="020F0502020204030204" pitchFamily="34" charset="0"/>
                <a:ea typeface="Calibri" panose="020F0502020204030204" pitchFamily="34" charset="0"/>
                <a:cs typeface="Calibri" panose="020F0502020204030204" pitchFamily="34" charset="0"/>
              </a:rPr>
              <a:t>Users describe symptoms conversationally – no need for medical jargon.</a:t>
            </a:r>
          </a:p>
          <a:p>
            <a:r>
              <a:rPr lang="en-US" b="1" dirty="0">
                <a:latin typeface="Calibri" panose="020F0502020204030204" pitchFamily="34" charset="0"/>
                <a:ea typeface="Calibri" panose="020F0502020204030204" pitchFamily="34" charset="0"/>
                <a:cs typeface="Calibri" panose="020F0502020204030204" pitchFamily="34" charset="0"/>
              </a:rPr>
              <a:t>Multi-Language Support</a:t>
            </a:r>
            <a:br>
              <a:rPr lang="en-US" dirty="0">
                <a:latin typeface="Calibri" panose="020F0502020204030204" pitchFamily="34" charset="0"/>
                <a:ea typeface="Calibri" panose="020F0502020204030204" pitchFamily="34" charset="0"/>
                <a:cs typeface="Calibri" panose="020F0502020204030204" pitchFamily="34" charset="0"/>
              </a:rPr>
            </a:br>
            <a:r>
              <a:rPr lang="en-US" dirty="0">
                <a:latin typeface="Calibri" panose="020F0502020204030204" pitchFamily="34" charset="0"/>
                <a:ea typeface="Calibri" panose="020F0502020204030204" pitchFamily="34" charset="0"/>
                <a:cs typeface="Calibri" panose="020F0502020204030204" pitchFamily="34" charset="0"/>
              </a:rPr>
              <a:t>Understands and responds in multiple languages to serve a broader audience.</a:t>
            </a:r>
          </a:p>
          <a:p>
            <a:r>
              <a:rPr lang="en-US" b="1" dirty="0">
                <a:latin typeface="Calibri" panose="020F0502020204030204" pitchFamily="34" charset="0"/>
                <a:ea typeface="Calibri" panose="020F0502020204030204" pitchFamily="34" charset="0"/>
                <a:cs typeface="Calibri" panose="020F0502020204030204" pitchFamily="34" charset="0"/>
              </a:rPr>
              <a:t>Trusted Medical Sources</a:t>
            </a:r>
            <a:br>
              <a:rPr lang="en-US" dirty="0">
                <a:latin typeface="Calibri" panose="020F0502020204030204" pitchFamily="34" charset="0"/>
                <a:ea typeface="Calibri" panose="020F0502020204030204" pitchFamily="34" charset="0"/>
                <a:cs typeface="Calibri" panose="020F0502020204030204" pitchFamily="34" charset="0"/>
              </a:rPr>
            </a:br>
            <a:r>
              <a:rPr lang="en-US" dirty="0">
                <a:latin typeface="Calibri" panose="020F0502020204030204" pitchFamily="34" charset="0"/>
                <a:ea typeface="Calibri" panose="020F0502020204030204" pitchFamily="34" charset="0"/>
                <a:cs typeface="Calibri" panose="020F0502020204030204" pitchFamily="34" charset="0"/>
              </a:rPr>
              <a:t>Backed by verified data from WHO, government health portals, and medical journals.</a:t>
            </a:r>
          </a:p>
          <a:p>
            <a:r>
              <a:rPr lang="en-US" b="1" dirty="0">
                <a:latin typeface="Calibri" panose="020F0502020204030204" pitchFamily="34" charset="0"/>
                <a:ea typeface="Calibri" panose="020F0502020204030204" pitchFamily="34" charset="0"/>
                <a:cs typeface="Calibri" panose="020F0502020204030204" pitchFamily="34" charset="0"/>
              </a:rPr>
              <a:t>Risk-Free Health Education</a:t>
            </a:r>
            <a:br>
              <a:rPr lang="en-US" dirty="0">
                <a:latin typeface="Calibri" panose="020F0502020204030204" pitchFamily="34" charset="0"/>
                <a:ea typeface="Calibri" panose="020F0502020204030204" pitchFamily="34" charset="0"/>
                <a:cs typeface="Calibri" panose="020F0502020204030204" pitchFamily="34" charset="0"/>
              </a:rPr>
            </a:br>
            <a:r>
              <a:rPr lang="en-US" dirty="0">
                <a:latin typeface="Calibri" panose="020F0502020204030204" pitchFamily="34" charset="0"/>
                <a:ea typeface="Calibri" panose="020F0502020204030204" pitchFamily="34" charset="0"/>
                <a:cs typeface="Calibri" panose="020F0502020204030204" pitchFamily="34" charset="0"/>
              </a:rPr>
              <a:t>Provides guidance without diagnosing – reducing misinformation and panic.</a:t>
            </a:r>
          </a:p>
          <a:p>
            <a:r>
              <a:rPr lang="en-US" b="1" dirty="0">
                <a:latin typeface="Calibri" panose="020F0502020204030204" pitchFamily="34" charset="0"/>
                <a:ea typeface="Calibri" panose="020F0502020204030204" pitchFamily="34" charset="0"/>
                <a:cs typeface="Calibri" panose="020F0502020204030204" pitchFamily="34" charset="0"/>
              </a:rPr>
              <a:t>Personalized Remedies</a:t>
            </a:r>
            <a:br>
              <a:rPr lang="en-US" dirty="0">
                <a:latin typeface="Calibri" panose="020F0502020204030204" pitchFamily="34" charset="0"/>
                <a:ea typeface="Calibri" panose="020F0502020204030204" pitchFamily="34" charset="0"/>
                <a:cs typeface="Calibri" panose="020F0502020204030204" pitchFamily="34" charset="0"/>
              </a:rPr>
            </a:br>
            <a:r>
              <a:rPr lang="en-US" dirty="0">
                <a:latin typeface="Calibri" panose="020F0502020204030204" pitchFamily="34" charset="0"/>
                <a:ea typeface="Calibri" panose="020F0502020204030204" pitchFamily="34" charset="0"/>
                <a:cs typeface="Calibri" panose="020F0502020204030204" pitchFamily="34" charset="0"/>
              </a:rPr>
              <a:t>Suggests home remedies and preventive care based on user symptoms.</a:t>
            </a:r>
          </a:p>
          <a:p>
            <a:r>
              <a:rPr lang="en-US" b="1" dirty="0">
                <a:latin typeface="Calibri" panose="020F0502020204030204" pitchFamily="34" charset="0"/>
                <a:ea typeface="Calibri" panose="020F0502020204030204" pitchFamily="34" charset="0"/>
                <a:cs typeface="Calibri" panose="020F0502020204030204" pitchFamily="34" charset="0"/>
              </a:rPr>
              <a:t>Urgency Detection</a:t>
            </a:r>
            <a:br>
              <a:rPr lang="en-US" dirty="0">
                <a:latin typeface="Calibri" panose="020F0502020204030204" pitchFamily="34" charset="0"/>
                <a:ea typeface="Calibri" panose="020F0502020204030204" pitchFamily="34" charset="0"/>
                <a:cs typeface="Calibri" panose="020F0502020204030204" pitchFamily="34" charset="0"/>
              </a:rPr>
            </a:br>
            <a:r>
              <a:rPr lang="en-US" dirty="0">
                <a:latin typeface="Calibri" panose="020F0502020204030204" pitchFamily="34" charset="0"/>
                <a:ea typeface="Calibri" panose="020F0502020204030204" pitchFamily="34" charset="0"/>
                <a:cs typeface="Calibri" panose="020F0502020204030204" pitchFamily="34" charset="0"/>
              </a:rPr>
              <a:t>Assesses severity and guides users: rest, consult, or emergency action.</a:t>
            </a:r>
          </a:p>
          <a:p>
            <a:r>
              <a:rPr lang="en-US" b="1" dirty="0">
                <a:latin typeface="Calibri" panose="020F0502020204030204" pitchFamily="34" charset="0"/>
                <a:ea typeface="Calibri" panose="020F0502020204030204" pitchFamily="34" charset="0"/>
                <a:cs typeface="Calibri" panose="020F0502020204030204" pitchFamily="34" charset="0"/>
              </a:rPr>
              <a:t>Early Health Awareness</a:t>
            </a:r>
            <a:br>
              <a:rPr lang="en-US" dirty="0">
                <a:latin typeface="Calibri" panose="020F0502020204030204" pitchFamily="34" charset="0"/>
                <a:ea typeface="Calibri" panose="020F0502020204030204" pitchFamily="34" charset="0"/>
                <a:cs typeface="Calibri" panose="020F0502020204030204" pitchFamily="34" charset="0"/>
              </a:rPr>
            </a:br>
            <a:r>
              <a:rPr lang="en-US" dirty="0">
                <a:latin typeface="Calibri" panose="020F0502020204030204" pitchFamily="34" charset="0"/>
                <a:ea typeface="Calibri" panose="020F0502020204030204" pitchFamily="34" charset="0"/>
                <a:cs typeface="Calibri" panose="020F0502020204030204" pitchFamily="34" charset="0"/>
              </a:rPr>
              <a:t>Promotes timely self-checks and early detection to avoid critical conditions.</a:t>
            </a:r>
          </a:p>
        </p:txBody>
      </p:sp>
    </p:spTree>
    <p:extLst>
      <p:ext uri="{BB962C8B-B14F-4D97-AF65-F5344CB8AC3E}">
        <p14:creationId xmlns:p14="http://schemas.microsoft.com/office/powerpoint/2010/main" val="32020245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5986D-DBC5-8220-FE6F-7F2ABC7C4CEE}"/>
              </a:ext>
            </a:extLst>
          </p:cNvPr>
          <p:cNvSpPr>
            <a:spLocks noGrp="1"/>
          </p:cNvSpPr>
          <p:nvPr>
            <p:ph type="title"/>
          </p:nvPr>
        </p:nvSpPr>
        <p:spPr/>
        <p:txBody>
          <a:bodyPr/>
          <a:lstStyle/>
          <a:p>
            <a:r>
              <a:rPr lang="en-IN" dirty="0">
                <a:solidFill>
                  <a:schemeClr val="accent1"/>
                </a:solidFill>
              </a:rPr>
              <a:t>End users</a:t>
            </a:r>
          </a:p>
        </p:txBody>
      </p:sp>
      <p:sp>
        <p:nvSpPr>
          <p:cNvPr id="3" name="Content Placeholder 2">
            <a:extLst>
              <a:ext uri="{FF2B5EF4-FFF2-40B4-BE49-F238E27FC236}">
                <a16:creationId xmlns:a16="http://schemas.microsoft.com/office/drawing/2014/main" id="{AB679E23-F86A-AFA9-FE9C-7F5A518E8198}"/>
              </a:ext>
            </a:extLst>
          </p:cNvPr>
          <p:cNvSpPr>
            <a:spLocks noGrp="1"/>
          </p:cNvSpPr>
          <p:nvPr>
            <p:ph idx="1"/>
          </p:nvPr>
        </p:nvSpPr>
        <p:spPr/>
        <p:txBody>
          <a:bodyPr/>
          <a:lstStyle/>
          <a:p>
            <a:pPr marL="305435" indent="-305435"/>
            <a:r>
              <a:rPr lang="en-IN" sz="2800" dirty="0">
                <a:latin typeface="Calibri"/>
                <a:ea typeface="+mn-lt"/>
                <a:cs typeface="+mn-lt"/>
              </a:rPr>
              <a:t>General Public</a:t>
            </a:r>
          </a:p>
          <a:p>
            <a:pPr marL="305435" indent="-305435"/>
            <a:r>
              <a:rPr lang="en-IN" sz="2800" dirty="0">
                <a:latin typeface="Calibri"/>
                <a:ea typeface="+mn-lt"/>
                <a:cs typeface="+mn-lt"/>
              </a:rPr>
              <a:t>Rural and Remote Population</a:t>
            </a:r>
          </a:p>
          <a:p>
            <a:pPr marL="305435" indent="-305435"/>
            <a:r>
              <a:rPr lang="en-IN" sz="2800" dirty="0">
                <a:latin typeface="Calibri"/>
                <a:ea typeface="+mn-lt"/>
                <a:cs typeface="+mn-lt"/>
              </a:rPr>
              <a:t>Student and Young Adults</a:t>
            </a:r>
          </a:p>
          <a:p>
            <a:pPr marL="305435" indent="-305435"/>
            <a:r>
              <a:rPr lang="en-IN" sz="2800" dirty="0">
                <a:latin typeface="Calibri"/>
                <a:ea typeface="+mn-lt"/>
                <a:cs typeface="+mn-lt"/>
              </a:rPr>
              <a:t>Educators</a:t>
            </a:r>
            <a:endParaRPr lang="en-IN" sz="2800" dirty="0">
              <a:latin typeface="Calibri"/>
              <a:ea typeface="Calibri"/>
              <a:cs typeface="Calibri"/>
            </a:endParaRPr>
          </a:p>
        </p:txBody>
      </p:sp>
    </p:spTree>
    <p:extLst>
      <p:ext uri="{BB962C8B-B14F-4D97-AF65-F5344CB8AC3E}">
        <p14:creationId xmlns:p14="http://schemas.microsoft.com/office/powerpoint/2010/main" val="3819043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32F0A-9D83-B256-3E61-FD54AA26E1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410C9-747C-0C4D-FAD7-77167E836569}"/>
              </a:ext>
            </a:extLst>
          </p:cNvPr>
          <p:cNvSpPr>
            <a:spLocks noGrp="1"/>
          </p:cNvSpPr>
          <p:nvPr>
            <p:ph type="title"/>
          </p:nvPr>
        </p:nvSpPr>
        <p:spPr/>
        <p:txBody>
          <a:bodyPr/>
          <a:lstStyle/>
          <a:p>
            <a:r>
              <a:rPr lang="en-IN" dirty="0">
                <a:solidFill>
                  <a:schemeClr val="accent1"/>
                </a:solidFill>
              </a:rPr>
              <a:t>Results</a:t>
            </a:r>
          </a:p>
        </p:txBody>
      </p:sp>
      <p:pic>
        <p:nvPicPr>
          <p:cNvPr id="5" name="Picture 4">
            <a:extLst>
              <a:ext uri="{FF2B5EF4-FFF2-40B4-BE49-F238E27FC236}">
                <a16:creationId xmlns:a16="http://schemas.microsoft.com/office/drawing/2014/main" id="{43A294DE-A85D-0AC5-4698-C72C5B1BA8FC}"/>
              </a:ext>
            </a:extLst>
          </p:cNvPr>
          <p:cNvPicPr>
            <a:picLocks noChangeAspect="1"/>
          </p:cNvPicPr>
          <p:nvPr/>
        </p:nvPicPr>
        <p:blipFill>
          <a:blip r:embed="rId2"/>
          <a:stretch>
            <a:fillRect/>
          </a:stretch>
        </p:blipFill>
        <p:spPr>
          <a:xfrm>
            <a:off x="5935220" y="864870"/>
            <a:ext cx="5200100" cy="5128260"/>
          </a:xfrm>
          <a:prstGeom prst="rect">
            <a:avLst/>
          </a:prstGeom>
        </p:spPr>
      </p:pic>
    </p:spTree>
    <p:extLst>
      <p:ext uri="{BB962C8B-B14F-4D97-AF65-F5344CB8AC3E}">
        <p14:creationId xmlns:p14="http://schemas.microsoft.com/office/powerpoint/2010/main" val="40686685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8070C-FF0D-BBE3-3D8A-C3794CCCE8A2}"/>
              </a:ext>
            </a:extLst>
          </p:cNvPr>
          <p:cNvSpPr>
            <a:spLocks noGrp="1"/>
          </p:cNvSpPr>
          <p:nvPr>
            <p:ph type="title"/>
          </p:nvPr>
        </p:nvSpPr>
        <p:spPr/>
        <p:txBody>
          <a:bodyPr/>
          <a:lstStyle/>
          <a:p>
            <a:r>
              <a:rPr lang="en-IN" dirty="0">
                <a:solidFill>
                  <a:schemeClr val="accent1"/>
                </a:solidFill>
              </a:rPr>
              <a:t>Results</a:t>
            </a:r>
          </a:p>
        </p:txBody>
      </p:sp>
      <p:pic>
        <p:nvPicPr>
          <p:cNvPr id="6" name="Content Placeholder 5">
            <a:extLst>
              <a:ext uri="{FF2B5EF4-FFF2-40B4-BE49-F238E27FC236}">
                <a16:creationId xmlns:a16="http://schemas.microsoft.com/office/drawing/2014/main" id="{E7B28376-CC02-E36D-C3AB-7E7B3A27C2B0}"/>
              </a:ext>
            </a:extLst>
          </p:cNvPr>
          <p:cNvPicPr>
            <a:picLocks noGrp="1" noChangeAspect="1"/>
          </p:cNvPicPr>
          <p:nvPr>
            <p:ph idx="1"/>
          </p:nvPr>
        </p:nvPicPr>
        <p:blipFill>
          <a:blip r:embed="rId2"/>
          <a:stretch>
            <a:fillRect/>
          </a:stretch>
        </p:blipFill>
        <p:spPr>
          <a:xfrm>
            <a:off x="5541264" y="792402"/>
            <a:ext cx="5261989" cy="5509349"/>
          </a:xfrm>
        </p:spPr>
      </p:pic>
    </p:spTree>
    <p:extLst>
      <p:ext uri="{BB962C8B-B14F-4D97-AF65-F5344CB8AC3E}">
        <p14:creationId xmlns:p14="http://schemas.microsoft.com/office/powerpoint/2010/main" val="20837152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15A6D-4F49-C4EA-7213-41FFE69BE1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6CC324-0A49-C60C-9095-B341C383FE0B}"/>
              </a:ext>
            </a:extLst>
          </p:cNvPr>
          <p:cNvSpPr>
            <a:spLocks noGrp="1"/>
          </p:cNvSpPr>
          <p:nvPr>
            <p:ph type="title"/>
          </p:nvPr>
        </p:nvSpPr>
        <p:spPr/>
        <p:txBody>
          <a:bodyPr/>
          <a:lstStyle/>
          <a:p>
            <a:r>
              <a:rPr lang="en-IN" dirty="0">
                <a:solidFill>
                  <a:schemeClr val="accent1"/>
                </a:solidFill>
              </a:rPr>
              <a:t>Results</a:t>
            </a:r>
          </a:p>
        </p:txBody>
      </p:sp>
      <p:pic>
        <p:nvPicPr>
          <p:cNvPr id="5" name="Picture 4">
            <a:extLst>
              <a:ext uri="{FF2B5EF4-FFF2-40B4-BE49-F238E27FC236}">
                <a16:creationId xmlns:a16="http://schemas.microsoft.com/office/drawing/2014/main" id="{78C30EB2-F24A-D896-D9F5-C8587C42C59F}"/>
              </a:ext>
            </a:extLst>
          </p:cNvPr>
          <p:cNvPicPr>
            <a:picLocks noChangeAspect="1"/>
          </p:cNvPicPr>
          <p:nvPr/>
        </p:nvPicPr>
        <p:blipFill>
          <a:blip r:embed="rId2"/>
          <a:stretch>
            <a:fillRect/>
          </a:stretch>
        </p:blipFill>
        <p:spPr>
          <a:xfrm>
            <a:off x="5513160" y="702156"/>
            <a:ext cx="5324004" cy="5644933"/>
          </a:xfrm>
          <a:prstGeom prst="rect">
            <a:avLst/>
          </a:prstGeom>
        </p:spPr>
      </p:pic>
    </p:spTree>
    <p:extLst>
      <p:ext uri="{BB962C8B-B14F-4D97-AF65-F5344CB8AC3E}">
        <p14:creationId xmlns:p14="http://schemas.microsoft.com/office/powerpoint/2010/main" val="11895414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7C739-D0DA-9B09-3DAB-C16532FC6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7292C-C6FB-E951-D59F-66CDA53E9B18}"/>
              </a:ext>
            </a:extLst>
          </p:cNvPr>
          <p:cNvSpPr>
            <a:spLocks noGrp="1"/>
          </p:cNvSpPr>
          <p:nvPr>
            <p:ph type="title"/>
          </p:nvPr>
        </p:nvSpPr>
        <p:spPr/>
        <p:txBody>
          <a:bodyPr/>
          <a:lstStyle/>
          <a:p>
            <a:r>
              <a:rPr lang="en-IN" dirty="0">
                <a:solidFill>
                  <a:schemeClr val="accent1"/>
                </a:solidFill>
              </a:rPr>
              <a:t>Results</a:t>
            </a:r>
          </a:p>
        </p:txBody>
      </p:sp>
      <p:sp>
        <p:nvSpPr>
          <p:cNvPr id="5" name="TextBox 4">
            <a:extLst>
              <a:ext uri="{FF2B5EF4-FFF2-40B4-BE49-F238E27FC236}">
                <a16:creationId xmlns:a16="http://schemas.microsoft.com/office/drawing/2014/main" id="{16A49521-B5B7-63EE-905D-5E4ED1D0957F}"/>
              </a:ext>
            </a:extLst>
          </p:cNvPr>
          <p:cNvSpPr txBox="1"/>
          <p:nvPr/>
        </p:nvSpPr>
        <p:spPr>
          <a:xfrm>
            <a:off x="3815054" y="1283804"/>
            <a:ext cx="393705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dirty="0">
                <a:solidFill>
                  <a:schemeClr val="accent2"/>
                </a:solidFill>
                <a:latin typeface="Calibri"/>
                <a:ea typeface="Calibri"/>
                <a:cs typeface="Calibri"/>
              </a:rPr>
              <a:t>Deployed AI Agent</a:t>
            </a:r>
          </a:p>
        </p:txBody>
      </p:sp>
      <p:pic>
        <p:nvPicPr>
          <p:cNvPr id="6" name="Picture 5">
            <a:extLst>
              <a:ext uri="{FF2B5EF4-FFF2-40B4-BE49-F238E27FC236}">
                <a16:creationId xmlns:a16="http://schemas.microsoft.com/office/drawing/2014/main" id="{2FBF1D15-D6B3-502F-9002-52956B50B0A8}"/>
              </a:ext>
            </a:extLst>
          </p:cNvPr>
          <p:cNvPicPr>
            <a:picLocks noChangeAspect="1"/>
          </p:cNvPicPr>
          <p:nvPr/>
        </p:nvPicPr>
        <p:blipFill>
          <a:blip r:embed="rId2"/>
          <a:stretch>
            <a:fillRect/>
          </a:stretch>
        </p:blipFill>
        <p:spPr>
          <a:xfrm>
            <a:off x="1630680" y="1999873"/>
            <a:ext cx="7719572" cy="3574323"/>
          </a:xfrm>
          <a:prstGeom prst="rect">
            <a:avLst/>
          </a:prstGeom>
        </p:spPr>
      </p:pic>
    </p:spTree>
    <p:extLst>
      <p:ext uri="{BB962C8B-B14F-4D97-AF65-F5344CB8AC3E}">
        <p14:creationId xmlns:p14="http://schemas.microsoft.com/office/powerpoint/2010/main" val="11263028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C6B3D-1072-C2D2-EBFE-E33CABE394D1}"/>
              </a:ext>
            </a:extLst>
          </p:cNvPr>
          <p:cNvSpPr>
            <a:spLocks noGrp="1"/>
          </p:cNvSpPr>
          <p:nvPr>
            <p:ph type="title"/>
          </p:nvPr>
        </p:nvSpPr>
        <p:spPr/>
        <p:txBody>
          <a:bodyPr/>
          <a:lstStyle/>
          <a:p>
            <a:r>
              <a:rPr lang="en-IN" dirty="0">
                <a:solidFill>
                  <a:schemeClr val="accent1"/>
                </a:solidFill>
              </a:rPr>
              <a:t>Conclusion</a:t>
            </a:r>
          </a:p>
        </p:txBody>
      </p:sp>
      <p:sp>
        <p:nvSpPr>
          <p:cNvPr id="3" name="Content Placeholder 2">
            <a:extLst>
              <a:ext uri="{FF2B5EF4-FFF2-40B4-BE49-F238E27FC236}">
                <a16:creationId xmlns:a16="http://schemas.microsoft.com/office/drawing/2014/main" id="{D4974547-DF1B-77BB-E545-9344EDB9AD3F}"/>
              </a:ext>
            </a:extLst>
          </p:cNvPr>
          <p:cNvSpPr>
            <a:spLocks noGrp="1"/>
          </p:cNvSpPr>
          <p:nvPr>
            <p:ph idx="1"/>
          </p:nvPr>
        </p:nvSpPr>
        <p:spPr/>
        <p:txBody>
          <a:bodyPr/>
          <a:lstStyle/>
          <a:p>
            <a:pPr marL="305435" indent="-305435"/>
            <a:r>
              <a:rPr lang="en-IN" sz="2800" dirty="0">
                <a:solidFill>
                  <a:srgbClr val="404040"/>
                </a:solidFill>
                <a:latin typeface="Calibri"/>
                <a:ea typeface="Calibri"/>
                <a:cs typeface="Calibri"/>
              </a:rPr>
              <a:t>The agent p</a:t>
            </a:r>
            <a:r>
              <a:rPr lang="en-IN" sz="2800" dirty="0"/>
              <a:t>romotes </a:t>
            </a:r>
            <a:r>
              <a:rPr lang="en-IN" sz="2800" b="1" dirty="0"/>
              <a:t>early detection</a:t>
            </a:r>
            <a:r>
              <a:rPr lang="en-IN" sz="2800" dirty="0">
                <a:solidFill>
                  <a:srgbClr val="404040"/>
                </a:solidFill>
                <a:latin typeface="Calibri"/>
                <a:ea typeface="Calibri"/>
                <a:cs typeface="Calibri"/>
              </a:rPr>
              <a:t>.</a:t>
            </a:r>
            <a:endParaRPr lang="en-US" sz="2800" dirty="0">
              <a:solidFill>
                <a:srgbClr val="404040"/>
              </a:solidFill>
              <a:latin typeface="Calibri"/>
              <a:ea typeface="Calibri"/>
              <a:cs typeface="Calibri"/>
            </a:endParaRPr>
          </a:p>
          <a:p>
            <a:pPr marL="305435" indent="-305435"/>
            <a:r>
              <a:rPr lang="en-US" sz="2800" dirty="0"/>
              <a:t>Bridges </a:t>
            </a:r>
            <a:r>
              <a:rPr lang="en-US" sz="2800" b="1" dirty="0"/>
              <a:t>healthcare gaps</a:t>
            </a:r>
            <a:r>
              <a:rPr lang="en-US" sz="2800" dirty="0"/>
              <a:t>, especially in underserved communities</a:t>
            </a:r>
            <a:r>
              <a:rPr lang="en-IN" sz="2800" dirty="0">
                <a:solidFill>
                  <a:srgbClr val="404040"/>
                </a:solidFill>
                <a:latin typeface="Calibri"/>
                <a:ea typeface="Calibri"/>
                <a:cs typeface="Calibri"/>
              </a:rPr>
              <a:t>.</a:t>
            </a:r>
            <a:endParaRPr lang="en-US" sz="2800" dirty="0">
              <a:solidFill>
                <a:srgbClr val="404040"/>
              </a:solidFill>
              <a:latin typeface="Calibri"/>
              <a:ea typeface="Calibri"/>
              <a:cs typeface="Calibri"/>
            </a:endParaRPr>
          </a:p>
          <a:p>
            <a:pPr marL="305435" indent="-305435"/>
            <a:r>
              <a:rPr lang="en-US" sz="2800" dirty="0"/>
              <a:t>Ensures a </a:t>
            </a:r>
            <a:r>
              <a:rPr lang="en-US" sz="2800" b="1" dirty="0"/>
              <a:t>safe, inclusive, and user-friendly</a:t>
            </a:r>
            <a:r>
              <a:rPr lang="en-US" sz="2800" dirty="0"/>
              <a:t> experience</a:t>
            </a:r>
            <a:endParaRPr lang="en-US" sz="2800" dirty="0">
              <a:latin typeface="Calibri"/>
              <a:ea typeface="Calibri"/>
              <a:cs typeface="Calibri"/>
            </a:endParaRPr>
          </a:p>
        </p:txBody>
      </p:sp>
      <p:sp>
        <p:nvSpPr>
          <p:cNvPr id="4" name="Rectangle 1">
            <a:extLst>
              <a:ext uri="{FF2B5EF4-FFF2-40B4-BE49-F238E27FC236}">
                <a16:creationId xmlns:a16="http://schemas.microsoft.com/office/drawing/2014/main" id="{D1D4C105-5ECB-088D-E3AB-8AAC82F53D9E}"/>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338823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9F08C-D61F-627D-C4E5-397E3E84FC45}"/>
              </a:ext>
            </a:extLst>
          </p:cNvPr>
          <p:cNvSpPr>
            <a:spLocks noGrp="1"/>
          </p:cNvSpPr>
          <p:nvPr>
            <p:ph type="title"/>
          </p:nvPr>
        </p:nvSpPr>
        <p:spPr/>
        <p:txBody>
          <a:bodyPr/>
          <a:lstStyle/>
          <a:p>
            <a:r>
              <a:rPr lang="en-IN" dirty="0">
                <a:solidFill>
                  <a:schemeClr val="accent1"/>
                </a:solidFill>
              </a:rPr>
              <a:t>GitHub Link</a:t>
            </a:r>
          </a:p>
        </p:txBody>
      </p:sp>
      <p:sp>
        <p:nvSpPr>
          <p:cNvPr id="3" name="Content Placeholder 2">
            <a:extLst>
              <a:ext uri="{FF2B5EF4-FFF2-40B4-BE49-F238E27FC236}">
                <a16:creationId xmlns:a16="http://schemas.microsoft.com/office/drawing/2014/main" id="{51A299DD-46FA-7866-41D8-C1BFCC2F69DD}"/>
              </a:ext>
            </a:extLst>
          </p:cNvPr>
          <p:cNvSpPr>
            <a:spLocks noGrp="1"/>
          </p:cNvSpPr>
          <p:nvPr>
            <p:ph idx="1"/>
          </p:nvPr>
        </p:nvSpPr>
        <p:spPr>
          <a:xfrm>
            <a:off x="581193" y="1302026"/>
            <a:ext cx="6167080" cy="764518"/>
          </a:xfrm>
        </p:spPr>
        <p:txBody>
          <a:bodyPr/>
          <a:lstStyle/>
          <a:p>
            <a:r>
              <a:rPr lang="en-IN" dirty="0" err="1">
                <a:hlinkClick r:id="rId2"/>
              </a:rPr>
              <a:t>sajidkhnx</a:t>
            </a:r>
            <a:r>
              <a:rPr lang="en-IN" dirty="0">
                <a:hlinkClick r:id="rId2"/>
              </a:rPr>
              <a:t>/Health-Checker-AI-Agent-IBM-Intern-Project</a:t>
            </a:r>
            <a:endParaRPr lang="en-IN" dirty="0"/>
          </a:p>
        </p:txBody>
      </p:sp>
    </p:spTree>
    <p:extLst>
      <p:ext uri="{BB962C8B-B14F-4D97-AF65-F5344CB8AC3E}">
        <p14:creationId xmlns:p14="http://schemas.microsoft.com/office/powerpoint/2010/main" val="22306647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638FD1-D00E-E75B-705C-564F06D93D7B}"/>
              </a:ext>
            </a:extLst>
          </p:cNvPr>
          <p:cNvSpPr>
            <a:spLocks noGrp="1"/>
          </p:cNvSpPr>
          <p:nvPr>
            <p:ph idx="1"/>
          </p:nvPr>
        </p:nvSpPr>
        <p:spPr/>
        <p:txBody>
          <a:bodyPr>
            <a:normAutofit fontScale="77500" lnSpcReduction="20000"/>
          </a:bodyPr>
          <a:lstStyle/>
          <a:p>
            <a:r>
              <a:rPr lang="en-US" sz="2800" b="1" dirty="0">
                <a:latin typeface="Calibri" panose="020F0502020204030204" pitchFamily="34" charset="0"/>
                <a:ea typeface="Calibri" panose="020F0502020204030204" pitchFamily="34" charset="0"/>
                <a:cs typeface="Calibri" panose="020F0502020204030204" pitchFamily="34" charset="0"/>
              </a:rPr>
              <a:t>Real-Time Doctor Integration</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Enable live chat or appointment booking with certified doctors based on symptom severity.</a:t>
            </a:r>
          </a:p>
          <a:p>
            <a:r>
              <a:rPr lang="en-US" sz="2800" b="1" dirty="0">
                <a:latin typeface="Calibri" panose="020F0502020204030204" pitchFamily="34" charset="0"/>
                <a:ea typeface="Calibri" panose="020F0502020204030204" pitchFamily="34" charset="0"/>
                <a:cs typeface="Calibri" panose="020F0502020204030204" pitchFamily="34" charset="0"/>
              </a:rPr>
              <a:t>Geo-Based Health Services</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Recommend nearby clinics, pharmacies, or testing centers using location data.</a:t>
            </a:r>
          </a:p>
          <a:p>
            <a:r>
              <a:rPr lang="en-US" sz="2800" b="1" dirty="0">
                <a:latin typeface="Calibri" panose="020F0502020204030204" pitchFamily="34" charset="0"/>
                <a:ea typeface="Calibri" panose="020F0502020204030204" pitchFamily="34" charset="0"/>
                <a:cs typeface="Calibri" panose="020F0502020204030204" pitchFamily="34" charset="0"/>
              </a:rPr>
              <a:t>Health Trends &amp; Predictive Analytics</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Aggregate anonymous user data to detect regional health trends, outbreaks, and seasonal illnesses.</a:t>
            </a:r>
          </a:p>
          <a:p>
            <a:r>
              <a:rPr lang="en-US" sz="2800" b="1" dirty="0">
                <a:latin typeface="Calibri" panose="020F0502020204030204" pitchFamily="34" charset="0"/>
                <a:ea typeface="Calibri" panose="020F0502020204030204" pitchFamily="34" charset="0"/>
                <a:cs typeface="Calibri" panose="020F0502020204030204" pitchFamily="34" charset="0"/>
              </a:rPr>
              <a:t>Voice and Visual Symptom Input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Allow users to speak symptoms or upload images (e.g., rashes, swelling) for advanced analysis.</a:t>
            </a:r>
          </a:p>
          <a:p>
            <a:r>
              <a:rPr lang="en-US" sz="2800" b="1" dirty="0">
                <a:latin typeface="Calibri" panose="020F0502020204030204" pitchFamily="34" charset="0"/>
                <a:ea typeface="Calibri" panose="020F0502020204030204" pitchFamily="34" charset="0"/>
                <a:cs typeface="Calibri" panose="020F0502020204030204" pitchFamily="34" charset="0"/>
              </a:rPr>
              <a:t>Integration with Wearables and IoT Devices</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Connect with fitness trackers or smart health devices to provide proactive care suggestions.</a:t>
            </a:r>
          </a:p>
        </p:txBody>
      </p:sp>
      <p:sp>
        <p:nvSpPr>
          <p:cNvPr id="5" name="Title 4">
            <a:extLst>
              <a:ext uri="{FF2B5EF4-FFF2-40B4-BE49-F238E27FC236}">
                <a16:creationId xmlns:a16="http://schemas.microsoft.com/office/drawing/2014/main" id="{3F968F13-9AC4-7120-7ACD-9F752C767D5D}"/>
              </a:ext>
            </a:extLst>
          </p:cNvPr>
          <p:cNvSpPr txBox="1">
            <a:spLocks/>
          </p:cNvSpPr>
          <p:nvPr/>
        </p:nvSpPr>
        <p:spPr>
          <a:xfrm>
            <a:off x="535670" y="844659"/>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a:cs typeface="Arial"/>
              </a:rPr>
              <a:t>Future scope</a:t>
            </a:r>
          </a:p>
        </p:txBody>
      </p:sp>
    </p:spTree>
    <p:extLst>
      <p:ext uri="{BB962C8B-B14F-4D97-AF65-F5344CB8AC3E}">
        <p14:creationId xmlns:p14="http://schemas.microsoft.com/office/powerpoint/2010/main" val="614882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2E52-0C9E-7CCC-47E8-5C4711AD23FE}"/>
              </a:ext>
            </a:extLst>
          </p:cNvPr>
          <p:cNvSpPr>
            <a:spLocks noGrp="1"/>
          </p:cNvSpPr>
          <p:nvPr>
            <p:ph type="title"/>
          </p:nvPr>
        </p:nvSpPr>
        <p:spPr/>
        <p:txBody>
          <a:bodyPr/>
          <a:lstStyle/>
          <a:p>
            <a:r>
              <a:rPr lang="en-IN" dirty="0">
                <a:solidFill>
                  <a:schemeClr val="accent1"/>
                </a:solidFill>
              </a:rPr>
              <a:t>IBM Certifications</a:t>
            </a:r>
          </a:p>
        </p:txBody>
      </p:sp>
      <p:sp>
        <p:nvSpPr>
          <p:cNvPr id="3" name="Content Placeholder 2">
            <a:extLst>
              <a:ext uri="{FF2B5EF4-FFF2-40B4-BE49-F238E27FC236}">
                <a16:creationId xmlns:a16="http://schemas.microsoft.com/office/drawing/2014/main" id="{177D9613-6E93-8A63-8EC7-750760D77FD8}"/>
              </a:ext>
            </a:extLst>
          </p:cNvPr>
          <p:cNvSpPr>
            <a:spLocks noGrp="1"/>
          </p:cNvSpPr>
          <p:nvPr>
            <p:ph idx="1"/>
          </p:nvPr>
        </p:nvSpPr>
        <p:spPr>
          <a:xfrm>
            <a:off x="581193" y="1302026"/>
            <a:ext cx="5514808" cy="328654"/>
          </a:xfrm>
        </p:spPr>
        <p:txBody>
          <a:bodyPr>
            <a:normAutofit fontScale="92500" lnSpcReduction="20000"/>
          </a:bodyPr>
          <a:lstStyle/>
          <a:p>
            <a:r>
              <a:rPr lang="en-IN" dirty="0"/>
              <a:t>Screenshot/ </a:t>
            </a:r>
            <a:r>
              <a:rPr lang="en-IN" dirty="0" err="1"/>
              <a:t>credly</a:t>
            </a:r>
            <a:r>
              <a:rPr lang="en-IN" dirty="0"/>
              <a:t> certificate( getting started with AI)</a:t>
            </a:r>
          </a:p>
        </p:txBody>
      </p:sp>
      <p:pic>
        <p:nvPicPr>
          <p:cNvPr id="4" name="Picture 3">
            <a:extLst>
              <a:ext uri="{FF2B5EF4-FFF2-40B4-BE49-F238E27FC236}">
                <a16:creationId xmlns:a16="http://schemas.microsoft.com/office/drawing/2014/main" id="{6D1489C1-801E-4D8C-25BC-E712B0B9DCE9}"/>
              </a:ext>
            </a:extLst>
          </p:cNvPr>
          <p:cNvPicPr>
            <a:picLocks noChangeAspect="1"/>
          </p:cNvPicPr>
          <p:nvPr/>
        </p:nvPicPr>
        <p:blipFill>
          <a:blip r:embed="rId2"/>
          <a:stretch>
            <a:fillRect/>
          </a:stretch>
        </p:blipFill>
        <p:spPr>
          <a:xfrm>
            <a:off x="2796540" y="1928954"/>
            <a:ext cx="5691827" cy="4226890"/>
          </a:xfrm>
          <a:prstGeom prst="rect">
            <a:avLst/>
          </a:prstGeom>
        </p:spPr>
      </p:pic>
    </p:spTree>
    <p:extLst>
      <p:ext uri="{BB962C8B-B14F-4D97-AF65-F5344CB8AC3E}">
        <p14:creationId xmlns:p14="http://schemas.microsoft.com/office/powerpoint/2010/main" val="3847331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272187" y="776377"/>
            <a:ext cx="3758401" cy="369332"/>
          </a:xfrm>
          <a:prstGeom prst="rect">
            <a:avLst/>
          </a:prstGeom>
        </p:spPr>
        <p:txBody>
          <a:bodyPr wrap="none">
            <a:spAutoFit/>
          </a:bodyPr>
          <a:lstStyle/>
          <a:p>
            <a:r>
              <a:rPr lang="en-IN" dirty="0"/>
              <a:t>Attach your  RAG LAB certificate here</a:t>
            </a:r>
          </a:p>
        </p:txBody>
      </p:sp>
      <p:pic>
        <p:nvPicPr>
          <p:cNvPr id="6" name="Picture 5">
            <a:extLst>
              <a:ext uri="{FF2B5EF4-FFF2-40B4-BE49-F238E27FC236}">
                <a16:creationId xmlns:a16="http://schemas.microsoft.com/office/drawing/2014/main" id="{61F9C244-EABB-540E-30F5-C9576E13FFB0}"/>
              </a:ext>
            </a:extLst>
          </p:cNvPr>
          <p:cNvPicPr>
            <a:picLocks noChangeAspect="1"/>
          </p:cNvPicPr>
          <p:nvPr/>
        </p:nvPicPr>
        <p:blipFill>
          <a:blip r:embed="rId2"/>
          <a:stretch>
            <a:fillRect/>
          </a:stretch>
        </p:blipFill>
        <p:spPr>
          <a:xfrm>
            <a:off x="2339340" y="1145709"/>
            <a:ext cx="8364279" cy="5281409"/>
          </a:xfrm>
          <a:prstGeom prst="rect">
            <a:avLst/>
          </a:prstGeom>
        </p:spPr>
      </p:pic>
      <p:sp>
        <p:nvSpPr>
          <p:cNvPr id="7" name="TextBox 6">
            <a:extLst>
              <a:ext uri="{FF2B5EF4-FFF2-40B4-BE49-F238E27FC236}">
                <a16:creationId xmlns:a16="http://schemas.microsoft.com/office/drawing/2014/main" id="{0192CAA6-F527-6F78-BCB2-D2A770690FA7}"/>
              </a:ext>
            </a:extLst>
          </p:cNvPr>
          <p:cNvSpPr txBox="1"/>
          <p:nvPr/>
        </p:nvSpPr>
        <p:spPr>
          <a:xfrm>
            <a:off x="8494776" y="5712291"/>
            <a:ext cx="1709928" cy="369332"/>
          </a:xfrm>
          <a:prstGeom prst="rect">
            <a:avLst/>
          </a:prstGeom>
          <a:solidFill>
            <a:srgbClr val="A7A7A7"/>
          </a:solidFill>
          <a:ln>
            <a:solidFill>
              <a:srgbClr val="A7A7A7"/>
            </a:solidFill>
          </a:ln>
        </p:spPr>
        <p:txBody>
          <a:bodyPr wrap="square" rtlCol="0">
            <a:spAutoFit/>
          </a:bodyPr>
          <a:lstStyle/>
          <a:p>
            <a:endParaRPr lang="en-IN" dirty="0"/>
          </a:p>
        </p:txBody>
      </p:sp>
    </p:spTree>
    <p:extLst>
      <p:ext uri="{BB962C8B-B14F-4D97-AF65-F5344CB8AC3E}">
        <p14:creationId xmlns:p14="http://schemas.microsoft.com/office/powerpoint/2010/main" val="1406661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BE4CA82-64EC-4D4E-A5E5-3EBB66E7B24C}"/>
              </a:ext>
            </a:extLst>
          </p:cNvPr>
          <p:cNvSpPr>
            <a:spLocks noGrp="1"/>
          </p:cNvSpPr>
          <p:nvPr>
            <p:ph type="title"/>
          </p:nvPr>
        </p:nvSpPr>
        <p:spPr>
          <a:xfrm>
            <a:off x="1165861" y="2438558"/>
            <a:ext cx="9298744" cy="1325563"/>
          </a:xfrm>
        </p:spPr>
        <p:txBody>
          <a:bodyPr/>
          <a:lstStyle/>
          <a:p>
            <a:pPr algn="ctr"/>
            <a:r>
              <a:rPr lang="en-US" b="1" dirty="0">
                <a:solidFill>
                  <a:srgbClr val="002060"/>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4066255318"/>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F0268AC5E70984D8FE60B7154176407" ma:contentTypeVersion="15" ma:contentTypeDescription="Create a new document." ma:contentTypeScope="" ma:versionID="104e359103f0f57b1cf9676756e5b944">
  <xsd:schema xmlns:xsd="http://www.w3.org/2001/XMLSchema" xmlns:xs="http://www.w3.org/2001/XMLSchema" xmlns:p="http://schemas.microsoft.com/office/2006/metadata/properties" xmlns:ns3="b30265f8-c5e2-4918-b4a1-b977299ca3e2" xmlns:ns4="fadb41d3-f9cb-40fb-903c-8cacaba95bb5" targetNamespace="http://schemas.microsoft.com/office/2006/metadata/properties" ma:root="true" ma:fieldsID="5615b8f8aa772998bad551f24a33de0e" ns3:_="" ns4:_="">
    <xsd:import namespace="b30265f8-c5e2-4918-b4a1-b977299ca3e2"/>
    <xsd:import namespace="fadb41d3-f9cb-40fb-903c-8cacaba95bb5"/>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0265f8-c5e2-4918-b4a1-b977299ca3e2"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bjectDetectorVersions" ma:index="16" nillable="true" ma:displayName="MediaServiceObjectDetectorVersions" ma:hidden="true" ma:indexed="true" ma:internalName="MediaServiceObjectDetectorVersions"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adb41d3-f9cb-40fb-903c-8cacaba95bb5" elementFormDefault="qualified">
    <xsd:import namespace="http://schemas.microsoft.com/office/2006/documentManagement/types"/>
    <xsd:import namespace="http://schemas.microsoft.com/office/infopath/2007/PartnerControls"/>
    <xsd:element name="SharedWithUsers" ma:index="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internalName="SharedWithDetails" ma:readOnly="true">
      <xsd:simpleType>
        <xsd:restriction base="dms:Note">
          <xsd:maxLength value="255"/>
        </xsd:restriction>
      </xsd:simpleType>
    </xsd:element>
    <xsd:element name="SharingHintHash" ma:index="1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b30265f8-c5e2-4918-b4a1-b977299ca3e2" xsi:nil="true"/>
  </documentManagement>
</p:properties>
</file>

<file path=customXml/itemProps1.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2.xml><?xml version="1.0" encoding="utf-8"?>
<ds:datastoreItem xmlns:ds="http://schemas.openxmlformats.org/officeDocument/2006/customXml" ds:itemID="{9DD71778-17EE-4151-88AE-C8F4E8043B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0265f8-c5e2-4918-b4a1-b977299ca3e2"/>
    <ds:schemaRef ds:uri="fadb41d3-f9cb-40fb-903c-8cacaba95bb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D289AE2-D2AE-49D1-AFAC-3A79F6794255}">
  <ds:schemaRefs>
    <ds:schemaRef ds:uri="http://www.w3.org/XML/1998/namespace"/>
    <ds:schemaRef ds:uri="http://purl.org/dc/dcmitype/"/>
    <ds:schemaRef ds:uri="http://purl.org/dc/terms/"/>
    <ds:schemaRef ds:uri="fadb41d3-f9cb-40fb-903c-8cacaba95bb5"/>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b30265f8-c5e2-4918-b4a1-b977299ca3e2"/>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Future forward</Template>
  <TotalTime>92</TotalTime>
  <Words>519</Words>
  <Application>Microsoft Office PowerPoint</Application>
  <PresentationFormat>Widescreen</PresentationFormat>
  <Paragraphs>63</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Calibri Light</vt:lpstr>
      <vt:lpstr>Franklin Gothic Book</vt:lpstr>
      <vt:lpstr>Franklin Gothic Demi</vt:lpstr>
      <vt:lpstr>Wingdings 2</vt:lpstr>
      <vt:lpstr>DividendVTI</vt:lpstr>
      <vt:lpstr>AI Health Symptom Checker </vt:lpstr>
      <vt:lpstr>OUTLINE</vt:lpstr>
      <vt:lpstr>Problem Statement</vt:lpstr>
      <vt:lpstr>Technology  used</vt:lpstr>
      <vt:lpstr>IBM cloud services used</vt:lpstr>
      <vt:lpstr>Wow factors</vt:lpstr>
      <vt:lpstr>End users</vt:lpstr>
      <vt:lpstr>Results</vt:lpstr>
      <vt:lpstr>Results</vt:lpstr>
      <vt:lpstr>Results</vt:lpstr>
      <vt:lpstr>Results</vt:lpstr>
      <vt:lpstr>Conclusion</vt:lpstr>
      <vt:lpstr>GitHub Link</vt:lpstr>
      <vt:lpstr>PowerPoint Presentation</vt:lpstr>
      <vt:lpstr>IBM Certifications</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SAJID KHAN</cp:lastModifiedBy>
  <cp:revision>146</cp:revision>
  <dcterms:created xsi:type="dcterms:W3CDTF">2021-05-26T16:50:10Z</dcterms:created>
  <dcterms:modified xsi:type="dcterms:W3CDTF">2025-12-05T03:53:50Z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0x0101007F0268AC5E70984D8FE60B7154176407</vt:lpwstr>
  </property>
</Properties>
</file>